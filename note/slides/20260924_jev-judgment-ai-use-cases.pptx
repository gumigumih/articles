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4b1de36394a0f" /><Relationship Type="http://schemas.openxmlformats.org/officeDocument/2006/relationships/extended-properties" Target="/docProps/app.xml" Id="R67d1abbbcdac4f04" /><Relationship Type="http://schemas.openxmlformats.org/officeDocument/2006/relationships/officeDocument" Target="/ppt/presentation.xml" Id="R7c2a1ee244c541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3afc07140e45fb"/>
  </p:sldMasterIdLst>
  <p:notesMasterIdLst>
    <p:notesMasterId xmlns:r="http://schemas.openxmlformats.org/officeDocument/2006/relationships" r:id="R01e9500ebfc643b2"/>
  </p:notesMasterIdLst>
  <p:sldIdLst>
    <p:sldId xmlns:r="http://schemas.openxmlformats.org/officeDocument/2006/relationships" id="256" r:id="R65193947627c429a"/>
    <p:sldId xmlns:r="http://schemas.openxmlformats.org/officeDocument/2006/relationships" id="257" r:id="Ra4f09bb393504c54"/>
    <p:sldId xmlns:r="http://schemas.openxmlformats.org/officeDocument/2006/relationships" id="258" r:id="R71c32bcf4cfd448d"/>
    <p:sldId xmlns:r="http://schemas.openxmlformats.org/officeDocument/2006/relationships" id="259" r:id="R76defc45a3634dc4"/>
    <p:sldId xmlns:r="http://schemas.openxmlformats.org/officeDocument/2006/relationships" id="260" r:id="Rcf71c969d31645c5"/>
    <p:sldId xmlns:r="http://schemas.openxmlformats.org/officeDocument/2006/relationships" id="261" r:id="R6886fe638ffb41c7"/>
    <p:sldId xmlns:r="http://schemas.openxmlformats.org/officeDocument/2006/relationships" id="262" r:id="R3480e4c6dbd947ee"/>
    <p:sldId xmlns:r="http://schemas.openxmlformats.org/officeDocument/2006/relationships" id="263" r:id="Rd49ef6e0bf01494a"/>
    <p:sldId xmlns:r="http://schemas.openxmlformats.org/officeDocument/2006/relationships" id="264" r:id="R4b3385376143433c"/>
    <p:sldId xmlns:r="http://schemas.openxmlformats.org/officeDocument/2006/relationships" id="265" r:id="Re0c8721afe554c5c"/>
    <p:sldId xmlns:r="http://schemas.openxmlformats.org/officeDocument/2006/relationships" id="266" r:id="R5343a09f4b01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31b26eea4649e0" /><Relationship Type="http://schemas.openxmlformats.org/officeDocument/2006/relationships/slideMaster" Target="/ppt/slideMasters/slideMaster1.xml" Id="R453afc07140e45fb" /><Relationship Type="http://schemas.openxmlformats.org/officeDocument/2006/relationships/notesMaster" Target="/ppt/notesMasters/notesMaster1.xml" Id="R01e9500ebfc643b2" /><Relationship Type="http://schemas.openxmlformats.org/officeDocument/2006/relationships/presProps" Target="/ppt/presProps.xml" Id="Rbf1dc54a28154351" /><Relationship Type="http://schemas.openxmlformats.org/officeDocument/2006/relationships/tableStyles" Target="/ppt/tableStyles.xml" Id="Rbf9db314f6ab450e" /><Relationship Type="http://schemas.openxmlformats.org/officeDocument/2006/relationships/slide" Target="/ppt/slides/slide1.xml" Id="R65193947627c429a" /><Relationship Type="http://schemas.openxmlformats.org/officeDocument/2006/relationships/slide" Target="/ppt/slides/slide2.xml" Id="Ra4f09bb393504c54" /><Relationship Type="http://schemas.openxmlformats.org/officeDocument/2006/relationships/slide" Target="/ppt/slides/slide3.xml" Id="R71c32bcf4cfd448d" /><Relationship Type="http://schemas.openxmlformats.org/officeDocument/2006/relationships/slide" Target="/ppt/slides/slide4.xml" Id="R76defc45a3634dc4" /><Relationship Type="http://schemas.openxmlformats.org/officeDocument/2006/relationships/slide" Target="/ppt/slides/slide5.xml" Id="Rcf71c969d31645c5" /><Relationship Type="http://schemas.openxmlformats.org/officeDocument/2006/relationships/slide" Target="/ppt/slides/slide6.xml" Id="R6886fe638ffb41c7" /><Relationship Type="http://schemas.openxmlformats.org/officeDocument/2006/relationships/slide" Target="/ppt/slides/slide7.xml" Id="R3480e4c6dbd947ee" /><Relationship Type="http://schemas.openxmlformats.org/officeDocument/2006/relationships/slide" Target="/ppt/slides/slide8.xml" Id="Rd49ef6e0bf01494a" /><Relationship Type="http://schemas.openxmlformats.org/officeDocument/2006/relationships/slide" Target="/ppt/slides/slide9.xml" Id="R4b3385376143433c" /><Relationship Type="http://schemas.openxmlformats.org/officeDocument/2006/relationships/slide" Target="/ppt/slides/slide10.xml" Id="Re0c8721afe554c5c" /><Relationship Type="http://schemas.openxmlformats.org/officeDocument/2006/relationships/slide" Target="/ppt/slides/slide11.xml" Id="R5343a09f4b01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0b7891cc88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037c01725c409b" /><Relationship Type="http://schemas.openxmlformats.org/officeDocument/2006/relationships/notesMaster" Target="/ppt/notesMasters/notesMaster1.xml" Id="Rdb2cd2d74e0d49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38378cc98427f" /><Relationship Type="http://schemas.openxmlformats.org/officeDocument/2006/relationships/notesMaster" Target="/ppt/notesMasters/notesMaster1.xml" Id="Ra6398c22c4ea49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9dca399e8496c" /><Relationship Type="http://schemas.openxmlformats.org/officeDocument/2006/relationships/notesMaster" Target="/ppt/notesMasters/notesMaster1.xml" Id="Rb0ba9108c0e242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65a43736644ace" /><Relationship Type="http://schemas.openxmlformats.org/officeDocument/2006/relationships/notesMaster" Target="/ppt/notesMasters/notesMaster1.xml" Id="R2e42343e9f3646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dfbd0cc4fb4af5" /><Relationship Type="http://schemas.openxmlformats.org/officeDocument/2006/relationships/notesMaster" Target="/ppt/notesMasters/notesMaster1.xml" Id="R944a43c7307245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475e6401b749df" /><Relationship Type="http://schemas.openxmlformats.org/officeDocument/2006/relationships/notesMaster" Target="/ppt/notesMasters/notesMaster1.xml" Id="Rfdc19c4a040c4f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def89765c347ff" /><Relationship Type="http://schemas.openxmlformats.org/officeDocument/2006/relationships/notesMaster" Target="/ppt/notesMasters/notesMaster1.xml" Id="R77b505b05d4945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4cbb9ad5db4a21" /><Relationship Type="http://schemas.openxmlformats.org/officeDocument/2006/relationships/notesMaster" Target="/ppt/notesMasters/notesMaster1.xml" Id="R9721cfd382a142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55a6ddd0b94fda" /><Relationship Type="http://schemas.openxmlformats.org/officeDocument/2006/relationships/notesMaster" Target="/ppt/notesMasters/notesMaster1.xml" Id="Rf38e4928442a4f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186a9b65524313" /><Relationship Type="http://schemas.openxmlformats.org/officeDocument/2006/relationships/notesMaster" Target="/ppt/notesMasters/notesMaster1.xml" Id="R8878098b19384c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4878a4aa3a49bd" /><Relationship Type="http://schemas.openxmlformats.org/officeDocument/2006/relationships/notesMaster" Target="/ppt/notesMasters/notesMaster1.xml" Id="R0aa1638d740643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「判断専用AI」をゲームと制作に組み込む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同じ「もういいよ」でも、文脈で意図が変わる</a:t>
            </a:r>
          </a:p>
          <a:p xmlns:a="http://schemas.openxmlformats.org/drawingml/2006/main">
            <a:r>
              <a:t>https://docs.typesafe.ai/introduction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文章を作る役割と、判定を返す役割を分ける</a:t>
            </a:r>
          </a:p>
          <a:p xmlns:a="http://schemas.openxmlformats.org/drawingml/2006/main">
            <a:r>
              <a:t>https://docs.typesafe.ai/introduction</a:t>
            </a:r>
          </a:p>
          <a:p xmlns:a="http://schemas.openxmlformats.org/drawingml/2006/main">
            <a:r>
              <a:t>https://docs.typesafe.ai/model-jaggedness/jev-1.13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分類結果を、担当窓口へ渡す</a:t>
            </a:r>
          </a:p>
          <a:p xmlns:a="http://schemas.openxmlformats.org/drawingml/2006/main">
            <a:r>
              <a:t>https://x.com/usutaku_channel/status/2100829343954173965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同じ「判定」でも、ゲームでの使い方は変わる</a:t>
            </a:r>
          </a:p>
          <a:p xmlns:a="http://schemas.openxmlformats.org/drawingml/2006/main">
            <a:r>
              <a:t>https://x.com/gigabit_million/status/2101285853859545263</a:t>
            </a:r>
          </a:p>
          <a:p xmlns:a="http://schemas.openxmlformats.org/drawingml/2006/main">
            <a:r>
              <a:t>https://x.com/gigabit_million/status/2101044610755875174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制作途中の「選ぶ」を、AIが支援する</a:t>
            </a:r>
          </a:p>
          <a:p xmlns:a="http://schemas.openxmlformats.org/drawingml/2006/main">
            <a:r>
              <a:t>https://docs.typesafe.ai/models</a:t>
            </a:r>
          </a:p>
          <a:p xmlns:a="http://schemas.openxmlformats.org/drawingml/2006/main">
            <a:r>
              <a:t>https://x.com/taziku_co/status/2102897168453599718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Gemini TTSの音声を、作品の制作工程へ</a:t>
            </a:r>
          </a:p>
          <a:p xmlns:a="http://schemas.openxmlformats.org/drawingml/2006/main">
            <a:r>
              <a:t>https://blog.google/innovation-and-ai/models-and-research/gemini-models/gemini-3-8-text-to-speech/</a:t>
            </a:r>
          </a:p>
          <a:p xmlns:a="http://schemas.openxmlformats.org/drawingml/2006/main">
            <a:r>
              <a:t>https://x.com/yugen_matuni/status/2103079022259564943</a:t>
            </a:r>
          </a:p>
          <a:p xmlns:a="http://schemas.openxmlformats.org/drawingml/2006/main">
            <a:r>
              <a:t>https://x.com/k_matsumaru/status/2103000989779546232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AIの出力ごとに、受け取り先を設計する</a:t>
            </a:r>
          </a:p>
          <a:p xmlns:a="http://schemas.openxmlformats.org/drawingml/2006/main">
            <a:r>
              <a:t>https://docs.typesafe.ai/introduction</a:t>
            </a:r>
          </a:p>
          <a:p xmlns:a="http://schemas.openxmlformats.org/drawingml/2006/main">
            <a:r>
              <a:t>https://blog.google/innovation-and-ai/models-and-research/gemini-models/gemini-3-8-text-to-speech/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会話ゲームなら、誤判定したときの返事まで決める</a:t>
            </a:r>
          </a:p>
          <a:p xmlns:a="http://schemas.openxmlformats.org/drawingml/2006/main">
            <a:r>
              <a:t>https://docs.typesafe.ai/introduction</a:t>
            </a:r>
          </a:p>
          <a:p xmlns:a="http://schemas.openxmlformats.org/drawingml/2006/main">
            <a:r>
              <a:t>https://docs.typesafe.ai/model-jaggedness/jev-1.13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任せる範囲と、確認する場所を決める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読んでくださってありがとうございました</a:t>
            </a:r>
          </a:p>
          <a:p xmlns:a="http://schemas.openxmlformats.org/drawingml/2006/main">
            <a:r>
              <a:t>https://note.com/gumigumih/membership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1dd265423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5b4a4897e4ec6" /><Relationship Type="http://schemas.openxmlformats.org/officeDocument/2006/relationships/slideLayout" Target="/ppt/slideLayouts/slideLayout1.xml" Id="Rc2118f5d3906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118f5d3906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b79ad7922441f" /><Relationship Type="http://schemas.openxmlformats.org/officeDocument/2006/relationships/notesSlide" Target="/ppt/notesSlides/notesSlide1.xml" Id="R20b7ce7c44cb46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c3c08bc69452b" /><Relationship Type="http://schemas.openxmlformats.org/officeDocument/2006/relationships/notesSlide" Target="/ppt/notesSlides/notesSlide2.xml" Id="R1f6ecafe9f5242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d1c729be44dcd" /><Relationship Type="http://schemas.openxmlformats.org/officeDocument/2006/relationships/notesSlide" Target="/ppt/notesSlides/notesSlide3.xml" Id="Rdb02a202ea26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cb7e595134e9e" /><Relationship Type="http://schemas.openxmlformats.org/officeDocument/2006/relationships/notesSlide" Target="/ppt/notesSlides/notesSlide4.xml" Id="Rce537c8c636b4c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1dd546e834595" /><Relationship Type="http://schemas.openxmlformats.org/officeDocument/2006/relationships/notesSlide" Target="/ppt/notesSlides/notesSlide5.xml" Id="Red8180d22dd44c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8729190bc43b1" /><Relationship Type="http://schemas.openxmlformats.org/officeDocument/2006/relationships/notesSlide" Target="/ppt/notesSlides/notesSlide6.xml" Id="R5985a3a3dd3b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3d691733f4edd" /><Relationship Type="http://schemas.openxmlformats.org/officeDocument/2006/relationships/notesSlide" Target="/ppt/notesSlides/notesSlide7.xml" Id="R5d9b09f81abe4e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a1318756a434b" /><Relationship Type="http://schemas.openxmlformats.org/officeDocument/2006/relationships/notesSlide" Target="/ppt/notesSlides/notesSlide8.xml" Id="R0bea813591734c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afd557bb746a9" /><Relationship Type="http://schemas.openxmlformats.org/officeDocument/2006/relationships/notesSlide" Target="/ppt/notesSlides/notesSlide9.xml" Id="R78eb32dcfb9749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422f7279b4807" /><Relationship Type="http://schemas.openxmlformats.org/officeDocument/2006/relationships/notesSlide" Target="/ppt/notesSlides/notesSlide10.xml" Id="Ra3fece332ffe44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21acca4fb4f33" /><Relationship Type="http://schemas.openxmlformats.org/officeDocument/2006/relationships/image" Target="/ppt/media/image.png" Id="Rd47954e566ad4891" /><Relationship Type="http://schemas.openxmlformats.org/officeDocument/2006/relationships/hyperlink" Target="https://note.com/gumigumih/membership" TargetMode="External" Id="R90e4ba55eefc4006" /><Relationship Type="http://schemas.openxmlformats.org/officeDocument/2006/relationships/image" Target="/ppt/media/image2.png" Id="R8937e224e12249ac" /><Relationship Type="http://schemas.openxmlformats.org/officeDocument/2006/relationships/notesSlide" Target="/ppt/notesSlides/notesSlide11.xml" Id="R0406dc26b1244c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BC7EB-C7BB-4E18-9724-C709596F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524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65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AIとわたしの深夜エンタメ会議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6ADC4-53C8-48B1-A70C-3E8BCF55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5143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2250" b="1">
                <a:solidFill>
                  <a:srgbClr val="F8CE67"/>
                </a:solidFill>
                <a:latin typeface="M PLUS 1p"/>
                <a:ea typeface="M PLUS 1p"/>
                <a:cs typeface="M PLUS 1p"/>
              </a:rPr>
              <a:t>#07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7AFB1-AD34-4027-8107-6BCF1CC9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9431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5400" b="1">
                <a:solidFill>
                  <a:srgbClr val="F8CE67"/>
                </a:solidFill>
                <a:latin typeface="M PLUS 1p"/>
                <a:ea typeface="M PLUS 1p"/>
                <a:cs typeface="M PLUS 1p"/>
              </a:rPr>
              <a:t>「判断専用AI」を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B555F-DC36-44F4-8A00-1CF07FE7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905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480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ゲームと制作に組み込む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91103-12F3-4B90-A769-140061DD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238625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210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Jevの判定とGemini TTSの音声から考える、</a:t>
            </a:r>
          </a:p>
          <a:p xmlns:a="http://schemas.openxmlformats.org/drawingml/2006/main">
            <a:pPr>
              <a:defRPr sz="210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210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AI・システム・人の役割分担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7C7BE-ED38-4310-8711-0AACF5F4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5981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80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ぐみ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EC53F-879C-484A-8305-9C358A7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19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150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第2部の解説資料</a:t>
            </a:r>
          </a:p>
        </p:txBody>
      </p:sp>
    </p:spTree>
    <p:extLst>
      <p:ext uri="{BB962C8B-B14F-4D97-AF65-F5344CB8AC3E}">
        <p14:creationId xmlns:p14="http://schemas.microsoft.com/office/powerpoint/2010/main" val="608834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791C43-A806-470F-9477-D873B120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同じ「もういいよ」でも、文脈で意図が変わる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1D234-82D9-4A93-93F8-D18714F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76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米国TypeSafe AIのJevは、入力と質問から分類・評価などを返す「判断専用AI」です。</a:t>
            </a:r>
          </a:p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直前の会話も渡すと、単語だけでは分からない意図を判定する使い方が考えられます。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8005-C136-4A1E-8781-ACC1549B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764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入力：直前の会話＋発言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839F4-9810-453D-BB7F-3E0E277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2764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Jevが返す判定の候補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57759-0C8C-4994-BB2E-1D389FD9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22764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ゲーム側の反応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F26A1-BDB0-4D27-8DC2-BD7487F2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8003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72AB5-B9E9-4BBD-A62C-DF2DBDAE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86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説明が済んだ場面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7014D-7FFA-4694-ACF2-612E534C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27660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道順の説明を聞いた後で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「もういいよ」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C98DE-16E5-4BD7-A053-BC6DD03E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3400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06FC3-3CEE-46C0-BA4D-CF6C7F55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7672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DED9E-C2A0-4E6B-8108-F2DB22DE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8003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73DE1-7859-4606-B03C-3E546CF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2886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意図の候補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9F92A-4646-4146-B8F6-031442E9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27660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説明は十分なので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先へ進みたい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FBD73-42C1-4BF1-B857-8A09A46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3400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27DD7-AEF9-4861-9C5E-A1C8881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912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88E33-14D4-4A64-AB55-BC04BEBF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2800350"/>
            <a:ext cx="3057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550BB-ACD1-4FB4-BD2D-6D003B42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2886075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反応を選ぶ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5AE18-1FC6-4CB6-8EC9-AAA80557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3276600"/>
            <a:ext cx="2752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「では、出発する？」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1B4FE-41B6-4F9D-99CC-35B879CE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33875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F48E1-068F-40E6-BDD5-8186C62F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419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約束を破られた場面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98671-C5AA-4E97-9A01-70CED57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81012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何度も待たされた後で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「もういいよ」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345BD-828A-4727-9B19-0D2E5577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4933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3D6FD-E0FC-4FA9-8B8D-9DBC5FDF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76725" y="4876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7008D-63D5-4C66-AD8C-9885973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4333875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15AF6-FF6D-41F4-932B-EDE2DC6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4419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意図の候補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7C278-6663-4517-A302-EFBA5A7A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481012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不満があり、会話を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切り上げたい可能性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1B521-F3E4-4408-A75B-03DDF2A5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933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EB031-9298-429F-BB33-617C68B0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9125" y="4876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CB0E6-2E1F-4A02-9456-5986B39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4333875"/>
            <a:ext cx="3057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87B727-6E7F-4F16-8839-455A60D2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4419600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反応を選ぶ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A415B-A214-4A99-8E9C-1E7D76EC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4810125"/>
            <a:ext cx="2752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「何か気になってる？」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804D86-3B6E-4F7D-B239-6CC57E90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意味が曖昧なら決めつけず、確認する返事へ分岐させます。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4338D7-2802-4842-8434-F182163E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00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4E01AF-D789-419F-8C22-0FB669C4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960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出典：TypeSafe AI公式。会話・判定候補・返事は説明用の仮例で、実測した判定結果ではありません。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E78DB-F7E0-4F91-99F5-229F04F0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251419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8BC80-E0C3-46AF-99BE-A0A64BB1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文章を作る役割と、判定を返す役割を分ける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C7C0-ABD3-461E-BD55-CDBE6F23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76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LLMは大規模言語モデルのことです。文章生成に使う場合と、Jevを判定に使う場合を比べます。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533900"/>
                <a:gridCol w="4533900"/>
              </a:tblGrid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比較する項目</a:t>
                      </a:r>
                    </a:p>
                  </a:txBody>
                  <a:tcPr marL="133350" marR="133350" marT="114300" marB="114300" anchor="ctr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既存LLMを文章生成に使う</a:t>
                      </a:r>
                    </a:p>
                  </a:txBody>
                  <a:tcPr marL="133350" marR="133350" marT="114300" marB="114300" anchor="ctr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Jevを判定に使う</a:t>
                      </a:r>
                    </a:p>
                  </a:txBody>
                  <a:tcPr marL="133350" marR="133350" marT="114300" marB="114300" anchor="ctr">
                    <a:solidFill>
                      <a:srgbClr val="071337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入力例</a:t>
                      </a:r>
                    </a:p>
                  </a:txBody>
                  <a:tcPr marL="133350" marR="133350" marT="114300" marB="114300" anchor="ctr">
                    <a:solidFill>
                      <a:srgbClr val="EEEF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会話の文脈＋「もういいよ」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会話の文脈＋「もういいよ」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返すもの</a:t>
                      </a:r>
                    </a:p>
                  </a:txBody>
                  <a:tcPr marL="133350" marR="133350" marT="114300" marB="114300" anchor="ctr">
                    <a:solidFill>
                      <a:srgbClr val="EEEF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「何か気になってる？」などの返事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「会話を切り上げたい」などの意図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受け取る側</a:t>
                      </a:r>
                    </a:p>
                  </a:txBody>
                  <a:tcPr marL="133350" marR="133350" marT="114300" marB="114300" anchor="ctr">
                    <a:solidFill>
                      <a:srgbClr val="EEEF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ゲームが文章を表示する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ゲームが分類結果から返事を選ぶ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4C27F-4205-4277-9D93-60D15249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35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LLMにも分類はできる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67BE8-5523-42CA-A340-532CEEE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781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使い分けの軸は、必要な出力の形式と、それを使う処理です。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06E75-53EA-4B8D-B2A5-BDA53097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00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D33E1-E516-4A7A-896C-41C048AA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960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出典：TypeSafe AI公式ドキュメント。出力例は説明用。能力全般の優劣を示す比較ではありません。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A0DAF-6202-4340-8CB4-8D7BA01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473031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7C845D-1F94-468E-BBD6-A56385E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分類結果を、担当窓口へ渡す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4B648-71F5-4311-A24D-001784E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76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記事では、usutaku_channelさんによるメール分類の試行を紹介しました。</a:t>
            </a:r>
          </a:p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下図は、その使い方を説明するための模式例です。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89DD9-99FE-4C7D-BC3F-09B5D55D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171825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68A58-96F5-4A5F-AF20-A5BBBE0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28612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受け取ったメール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14642-791A-4D7E-818C-A4272EC7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686175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「資料を見ました。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料金を相談したいです」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163DC-BBEE-42C8-9603-07E935F7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7909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DFDDE-C25D-408B-B127-93B0E085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43350" y="3733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24B07-3E26-4A95-9B33-00F984D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3171825"/>
            <a:ext cx="2647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C7ACB-0ABA-40CB-9627-C585AA7A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975" y="328612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Jev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69E0D-BE21-4515-9EAA-5BAF305B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975" y="3686175"/>
            <a:ext cx="234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分類結果：営業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29614-F5F4-4674-9582-FF5A3480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25" y="379095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C0A45-BE66-4A74-B50D-CFE30B7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19825" y="379095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7C75E-05E2-4134-AAC8-7AB2A76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6765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25331-9CBB-4CA0-B198-E2D0608C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05750" y="2619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A259C-D8EB-4367-A573-706323A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79095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049DE-980E-43EA-B7CE-9C7DA65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05750" y="3733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F34B3-AEA6-4EAB-A047-ECF98CB8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0537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35FDC-4A39-48CC-A42C-5E3BEC36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05750" y="48482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DC449-1F8A-4A22-A7E3-1D6E39E4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343150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F0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99010-D888-42C9-87E9-68BD2657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250507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営業 → 営業担当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21925-247B-4C1F-B36D-FEA4DF6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457575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7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0640D-9AC3-4AC6-90A9-35504CD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36195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請求 → 経理担当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C8947-4673-495B-995C-CD250BC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572000"/>
            <a:ext cx="348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7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36CD2-8F0A-489A-ABDB-61072CB5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4733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サポート → 問い合わせ担当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8CE55-B57D-43D0-9BCF-29B766C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467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振り分け先はシステムが決める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63989-D638-49F8-A5D8-38ED6C44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00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807B50-66FC-4B7E-A801-9299EC44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960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出典：@usutaku_channel のX投稿（記事中の利用報告）。メールと窓口の対応は説明用の例。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CBFDF7-A683-4B7E-B96C-ABA779D5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532522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7FA318-4C8D-4E31-B746-D673849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同じ「判定」でも、ゲームでの使い方は変わる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DBEA2-8026-4A0D-B4BD-EE861166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76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記事で紹介したギガビットさんの試作では、分類結果と確率を別々の遊びに使っています。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94B9-7D16-421C-B81A-DCC0FF1B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4479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2100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会話ゲーム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28C4D-CFAC-408D-A879-00FD5748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314575"/>
            <a:ext cx="2457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D3DA-E687-447C-A0F2-003094DA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242887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入力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FE267-1B8D-463F-87ED-149C2669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28289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プレイヤーの発言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E3FBE-71F1-4882-B433-91AC1E32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0225" y="28765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A60F1-F7CC-47F6-B9A4-6CA9E026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81700" y="2819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0E389-74DC-49B9-BA99-B5E971BE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231457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516B3-417B-4891-AD75-9FCC341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24288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Jevの出力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38E1F-9833-4BA6-9F1C-D5DD1933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28289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感情・話題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F83F3-167D-42FD-80AD-DABAD5E2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28765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FA35A-6EEB-4E7D-AF4A-1DD9A8F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05875" y="2819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2CAEE-FAA3-4BBB-B442-0A9239E3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314575"/>
            <a:ext cx="2457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39006-DACE-4A2E-8B0D-0D4913DF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42887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ゲーム側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73852-2BB2-4412-A35D-C3C47253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8289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返事を選ぶ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649BA-68DF-4133-803C-255E364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562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判定結果を、キャラクターの反応を選ぶために使う。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11EAF-75A0-4D97-928C-9CF427CB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81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51723-2939-4A59-AD46-222954AF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815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逆アキネイター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DD6C2-F972-4B5C-9893-A52E6EAC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4448175"/>
            <a:ext cx="2457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FCA17-003D-41BF-A934-42DC59C5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56247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入力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C7E2D-D119-4789-A526-4FA4EDE5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9625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人物を当てる質問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2173E-E21F-494A-A974-6A53B233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0225" y="50101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50049-CD18-4821-B801-4A33AB0F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81700" y="4953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D3EE3-232E-40E4-84F1-6EEC29E5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444817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277CA-C51C-467C-8B9F-57227193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45624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Jevの出力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6F3F7-3D5C-46FF-A958-1BEDD63E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49625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はい／いいえの確率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BFE55-5B75-4232-8AAC-FDCBE621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50101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91590-3789-419E-A97E-1D0D9A0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05875" y="4953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91A060-F08D-46EE-9CE0-70E78CAF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448175"/>
            <a:ext cx="2457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7D9AF0-54FF-407B-B328-5B6D5ED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456247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ゲーム側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8461EB-CE4B-43DC-8C20-CFFF5EB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49625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確率を見せる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FB30F2-F6B0-4023-9647-6167D76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5705475"/>
            <a:ext cx="853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判定結果そのものを見せ、プレイヤーが推理する材料にする。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760FD8-86CC-4532-9A4A-5689FBD2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00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EE803A-AFF9-42CD-8951-F999F79A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960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出典：@gigabit_million のX投稿2件（記事中の利用報告）。試作の仕組みを整理した図。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72FA4D-882B-4310-A55C-2EAA847D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5665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1C519-C24D-4CF3-A4BD-1304F5B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制作途中の「選ぶ」を、AIが支援する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75DD0-B60E-4D14-B6F9-B74979EB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76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素材選定への活用を考える応用例です。素材の説明文と選定基準を入力し、</a:t>
            </a:r>
          </a:p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AIの評価を候補の絞り込みに使います。採用する素材は、人が実物を見て決めます。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3386D-55ED-430F-8A92-F05FD986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828925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3AFC2-9636-4900-9312-AE864302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94322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4D417-24B5-4E55-A5BC-23CDB98D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43275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素材の説明文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＋選定基準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59EE2-41F5-4E4E-87CB-92377002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54330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2F6DC-8736-4F26-9E50-385D9F01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95675" y="3486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0E79D-40C7-4EA0-A124-0EF4D58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828925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C4801-5C10-4FEC-A7FC-19D05C16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94322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AIの評価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3914C-5B6B-4D3C-87D6-01C6EB41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343275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基準に合うかを判定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34399-A2C0-484C-8878-E45F6BB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354330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0C918-13B7-4C1C-BF79-FFBC3A18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91300" y="3486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73CB0-EC54-4564-AC78-F257B45F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828925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E654D-E301-42CB-94A2-E9A91F6D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94322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人の選定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05A7A-D004-4D5D-B31C-70CDB7CD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343275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候補の映像を見て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採用・差し戻し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A39E6-095C-4D4F-B770-6BA29E80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5433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C386C-5FE8-4E4C-B9F8-E3A8DBB2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67875" y="3486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57B80-4E58-4263-BDDA-EC4B86FD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2828925"/>
            <a:ext cx="17049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DC833-874E-48BE-97A1-55BD5106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294322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編集工程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182D0-B816-4E40-BE98-A0DD6518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3343275"/>
            <a:ext cx="14001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作品へ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組み込む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1B686-44C6-47A7-9000-3D4B4DF6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577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例：穏やかな場面に合う素材を探す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AA80C-E6BE-4CED-9F4E-E4033FF0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説明文で候補を絞り、実際の動き・音・前後のつながりは人が確認します。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A7707-EF7D-42F4-908D-34CB3539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95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4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Jev 1.13の公式仕様はテキスト入力です。映像を直接入力する図ではありません。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5288A-16D8-4D7D-8ADD-9AB53F32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00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C2ADB-56B3-4FAD-99AD-519C3942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960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応用例。出典：TypeSafe AI Models。素材選定の着想：記事中の @taziku_co の投稿。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5678F-17A4-4867-B346-94DDC5A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1721135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13AD6C-E9EE-43B3-A4B4-45D42BE3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Gemini TTSの音声を、作品の制作工程へ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DD6F1-21AB-4E01-9AEE-6C9521EC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76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米国GoogleのGemini 3.8 Flash TTSは、文字を音声にするモデルです。</a:t>
            </a:r>
          </a:p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台本と、声・間・感情などの指示を渡し、生成した音声を試聴して調整します。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E0A14-8CCA-4B83-85B8-124ADD4E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0"/>
            <a:ext cx="2667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FFEA5-4D8B-4CAC-ACFA-A43DCF31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7813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台本と演技指定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2B1E4-BA36-47F6-9652-7F19FAA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181350"/>
            <a:ext cx="2362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「おかえり」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穏やかに・少し間を置く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3D1C4-6007-4747-948B-41205062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3333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36418-DCFC-4F14-9E35-D2E9BCD7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3855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A9240-041D-48BE-B733-D31EC15B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2667000"/>
            <a:ext cx="225742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56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29288-73E8-49ED-98CA-A1F9672A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27813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056BA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7056BA"/>
                </a:solidFill>
                <a:latin typeface="M PLUS 1p"/>
                <a:ea typeface="M PLUS 1p"/>
                <a:cs typeface="M PLUS 1p"/>
              </a:rPr>
              <a:t>Gemini TTS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7E2D1-E55D-4CF0-9EEA-0BCE45DB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31813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指定に沿った音声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5D1B4-4834-4586-B8CF-D98BD17E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333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B2F96-C6FA-4D1C-87EB-3C7E4936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770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43A92-1F7A-4BFD-B51E-53556389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667000"/>
            <a:ext cx="23145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17F15-5DDD-4033-819B-EB5317B8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78130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人が試聴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6CF46-EAB6-4EF8-BAC6-1B8B0681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181350"/>
            <a:ext cx="20097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読み方・間・感情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5A0E7-34DA-4241-BE75-54C9F759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3333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ABB44-E05F-48C0-B389-BC29C184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726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93298-C2DB-4BE7-8856-0E5FE7F9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2667000"/>
            <a:ext cx="2019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384B7-DA55-424C-A380-FB9F426E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2781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作品へ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30BC-DD8C-4DBD-A7EC-4CA23415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3181350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場面に合わせて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音声を配置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1BBF7-D646-45B4-BDF2-07E0B710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20000" y="42386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2C8AE-224E-4009-9735-BBD815FF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924050" y="4438650"/>
            <a:ext cx="5895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4E450-DF6A-4D61-ABED-42E7B6DF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728788" y="4243388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CE9D8-A749-44E0-88F3-1F2CED91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3990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36BDA-D069-4553-BA50-514D95B0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4543425"/>
            <a:ext cx="7686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合わなければ、台本や演技指定を直して再生成する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82858-702B-49C8-9FAA-5654004C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00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実在する人の声を使う場合は、本人の許可と利用範囲を確認する。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39AD8-BED0-4311-917F-E35AF937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76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57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記事では、まつにぃさんによるゲームのフルボイス化の構想を紹介しています。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E17B2-873B-45CC-A4C9-A5A1FF2F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00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E93D64-4179-4026-96C5-59146779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960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出典：Google公式、記事中のX投稿。工程図とセリフは説明用。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33C105-110C-4BCC-82B5-03B1F98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543252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A56CB6-B394-479A-BE07-C55596FE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AIの出力ごとに、受け取り先を設計する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85B0E-BC7E-454A-ACD3-7C925746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76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下の3つは、それぞれ独立した利用例です。必要なAIを選び、システムと人の担当を決めます。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1299D-90EA-4B0A-867C-FBDA0A84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7647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2ECFA-C04E-4D95-999E-AE4CD577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22764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返すもの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8C752-8B25-4D48-9FEC-CCC4C24C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76475"/>
            <a:ext cx="4352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650" b="1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システム・人がすること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64C84-09BF-421A-8664-1DFAB13B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876550"/>
            <a:ext cx="2638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8E6A2-7BDE-413D-BBA7-2A5BE92F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0861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既存LLM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EFA3C-AA0E-4D4D-9C37-19070FE4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32766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AD649-36CA-429A-AA8D-9F81E49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48075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3B6A8-FACE-4438-9081-0F30761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2876550"/>
            <a:ext cx="2724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4C3B7-EC7E-487F-9DB2-C06FE854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307657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返事・説明の文章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0DDA6-018D-44D3-92C8-12ABDD5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75" y="327660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58B04-E543-41EF-90E3-532F7FE1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532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80FB8-E055-4156-8DC2-BF382B6C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876550"/>
            <a:ext cx="4429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7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7A857-48E6-4610-82F2-90EA21A0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3076575"/>
            <a:ext cx="411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内容を確認し、ゲームで表示する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20A91-1665-424E-A927-1A2B83F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14775"/>
            <a:ext cx="2638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DC90D-547C-42F4-9C7D-94BE53EC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1243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Jev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DE47B-6A00-48D2-A7D9-78E08CD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43148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A36DE-7A48-4C0C-8CD2-B91A55B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48075" y="42576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99C92-4ACA-4ABB-94AF-34F6893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3914775"/>
            <a:ext cx="2724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C9A1F-CA3C-403F-A7BC-DC3BF914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41148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分類・評価・確率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13955-D517-4206-A1D8-FE83DE46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75" y="431482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F4370-789F-4226-B60A-51ED0C15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53250" y="42576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3FD1E-EFBC-4806-82CB-B91EDD1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914775"/>
            <a:ext cx="4429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7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BE02A-700A-4299-80A7-1EA95ACB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4114800"/>
            <a:ext cx="411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分岐や返事を選び、誤判定に備える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07649-ED7B-4D25-8B8C-CAB4047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953000"/>
            <a:ext cx="2638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56B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4171D3-0F7A-43EC-9DF8-F1FE0DDB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1625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056BA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7056BA"/>
                </a:solidFill>
                <a:latin typeface="M PLUS 1p"/>
                <a:ea typeface="M PLUS 1p"/>
                <a:cs typeface="M PLUS 1p"/>
              </a:rPr>
              <a:t>Gemini TTS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CB943-E707-45BB-9D85-7155A344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53530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17B5D-4BF7-48C3-8E35-37438787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48075" y="5295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B6598-C796-43A6-9A91-4AD976A7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4953000"/>
            <a:ext cx="2724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56B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21DFB4-71BE-489A-85CE-D710664D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51530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音声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EB0803-AF19-4AD2-B754-EEC5DC65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75" y="53530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787D3A-535E-42A2-99C5-D9D10EDE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53250" y="5295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885A96-EE75-4AD2-BE74-2D10A6B6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953000"/>
            <a:ext cx="4429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7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B33396-7EB4-492C-B1F0-91EF6184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5153025"/>
            <a:ext cx="411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許可と音声を確認し、作品に配置する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44F03A-8771-4AD6-8D3D-39FDC61E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00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0008E8-4F79-4E1B-8305-A7C33905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960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記事第2部の役割分担を整理。3つのAIを順番に通す構成ではありません。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8EC41D-B1D7-4B85-BA1D-007CCCAF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111330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6E98F-E630-4614-9492-69EDCCB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5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会話ゲームなら、誤判定したときの返事まで決める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3D45C-A083-4391-A644-BA80D684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276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「もういいよ」の意味を取り違えると、プレイヤーの意図に合わない反応になります。</a:t>
            </a:r>
          </a:p>
          <a:p xmlns:a="http://schemas.openxmlformats.org/drawingml/2006/main">
            <a:pPr>
              <a:def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判定を使う条件と、曖昧な場合に聞き直す反応を、ゲーム側に用意します。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22BA9-BBEB-47EF-AB0D-7ECCC3B2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057525"/>
            <a:ext cx="2571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2B1C2-71B5-463C-9439-D665180B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171825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8CED5-D8E2-4EF8-A179-9BB5AC6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571875"/>
            <a:ext cx="2266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文脈＋「もういいよ」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55E9B-C971-4AB8-86B7-1900A54B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6957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5ECDA-B817-4564-AE8B-A0319659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90925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FC4EF-7821-4AE8-B5EF-59B018DB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900" y="3057525"/>
            <a:ext cx="24193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CED4C-7D9A-4193-A178-D37787D5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171825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Jevの出力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43642-FE09-407E-8612-21EEF005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571875"/>
            <a:ext cx="2114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意図の候補</a:t>
            </a:r>
          </a:p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＋確かさの情報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09594-93AF-4BB3-91A9-4E53F31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36957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996EA-1B77-4726-9AD8-115CCE1B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62725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D341F-D1B3-4EDC-9B0A-8E17F53E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3145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ゲーム側の分岐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B64DD-62B6-4F93-8674-4A8C67CB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34050" y="3933825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3CD18-F076-4364-A5A0-16575F44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2895600"/>
            <a:ext cx="77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9CAD4-D775-4049-B63F-5E4D9D6A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6650" y="2838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DE006-F095-48C1-9F7C-817B82C3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4972050"/>
            <a:ext cx="77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B713B-45F9-4402-AD2D-69E18D8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6650" y="4914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23C67-F88A-46B4-BCCB-F5074D7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28900"/>
            <a:ext cx="387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D4208-55B6-41D1-84F1-652F8CEB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2733675"/>
            <a:ext cx="354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判定を採用できる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60CAA-D941-44DD-ACEF-90C4026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3133725"/>
            <a:ext cx="3543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先へ進む意図なら</a:t>
            </a:r>
          </a:p>
          <a:p xmlns:a="http://schemas.openxmlformats.org/drawingml/2006/main">
            <a:pPr>
              <a:def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「では、出発する？」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17FA8-3F43-4DC2-ADF5-A522789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419600"/>
            <a:ext cx="387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89378-C76B-416D-BC9D-9C41E3B0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4524375"/>
            <a:ext cx="354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意図が曖昧・処理エラー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876330-6907-435A-8FFA-5113C61B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4924425"/>
            <a:ext cx="3543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確認する返事を選ぶ</a:t>
            </a:r>
          </a:p>
          <a:p xmlns:a="http://schemas.openxmlformats.org/drawingml/2006/main">
            <a:pPr>
              <a:def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7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「今の話を続ける？」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08780-83F6-40A9-AFB7-3EDCCC2C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762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6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人の担当：返事・採用条件を決め、想定外の発言で試し、誤判定を見て直す。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2CB73-CF04-419F-A3A7-260FEBDB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00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9D7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51FAE3-82E8-4294-90EE-74B2BA07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960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125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説明用の設計案。実在サービスの内部構成や、判定の正しさを保証する図ではありません。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D0721-C37D-4F54-A12D-BA19BBEC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2346806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376C0-E39E-4322-B38A-0C2C0153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81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315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任せる範囲と、確認する場所を決める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EDC76-9DF8-46F2-8620-E8984E15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24025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AIの出力を作品へ組み込むときは、次の3つを具体的に決めておきます。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D5FA1-1941-4197-85A4-F7471EC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724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2175" b="1">
                <a:solidFill>
                  <a:srgbClr val="F8CE67"/>
                </a:solidFill>
                <a:latin typeface="M PLUS 1p"/>
                <a:ea typeface="M PLUS 1p"/>
                <a:cs typeface="M PLUS 1p"/>
              </a:rPr>
              <a:t>AIに任せる範囲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6F635-0077-419F-ACCA-30D8FABD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9565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分類なのか、文章なのか、音声なのか。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入力と、必要な出力を決める。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011DC-2F7C-458C-8685-38BAA24E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14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EDA06-BFC7-4B6C-BAE3-98E30270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0100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2175" b="1">
                <a:solidFill>
                  <a:srgbClr val="F8CE67"/>
                </a:solidFill>
                <a:latin typeface="M PLUS 1p"/>
                <a:ea typeface="M PLUS 1p"/>
                <a:cs typeface="M PLUS 1p"/>
              </a:rPr>
              <a:t>人が確認する場所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B27E8-349A-436B-892F-EE426712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43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判定の採用条件、返事、声の利用許可。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作品に入れる前に誰が確かめるかを決める。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02700-FA64-44B7-8C16-A4777D1B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7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1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02725-F6F5-4E38-A05F-ABC28DFF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4006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2175" b="1">
                <a:solidFill>
                  <a:srgbClr val="F8CE67"/>
                </a:solidFill>
                <a:latin typeface="M PLUS 1p"/>
                <a:ea typeface="M PLUS 1p"/>
                <a:cs typeface="M PLUS 1p"/>
              </a:rPr>
              <a:t>うまくいかないときの対応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5405F-E86D-4777-A99E-00931CF0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857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聞き直す、共通の返事にする、素材を選び直す。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E1826-4EAD-4FC4-96D4-4FCA226C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389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200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783754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954e566ad4891"/>
          <a:stretch xmlns:a="http://schemas.openxmlformats.org/drawingml/2006/main"/>
        </p:blipFill>
        <p:spPr>
          <a:xfrm xmlns:a="http://schemas.openxmlformats.org/drawingml/2006/main">
            <a:off x="7543800" y="457201"/>
            <a:ext cx="4343400" cy="22768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57A5A-6759-4C5C-BDB6-330C5F8C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C1DB7-5B33-4815-BA26-67AFD7CB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77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95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AIとわたしの深夜エンタメ会議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4340B-1FEB-4B37-AE09-64AF4F63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621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360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読んでくださって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360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ありがとうございました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AA476-10FE-4EA3-85AA-0F90A74F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147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F8CE67"/>
                </a:solidFill>
                <a:latin typeface="M PLUS 1p"/>
                <a:ea typeface="M PLUS 1p"/>
                <a:cs typeface="M PLUS 1p"/>
              </a:rPr>
              <a:t>ぐみ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24BBA-003D-4A7B-BEEB-4A7311A4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38600"/>
            <a:ext cx="5953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メンバーシップで、毎回の深掘りと</a:t>
            </a:r>
          </a:p>
          <a:p xmlns:a="http://schemas.openxmlformats.org/drawingml/2006/main">
            <a:pPr>
              <a:defRPr sz="180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会社ですぐ使える分析スライドをお届けします。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78889-5874-4EE9-8198-5969071E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314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1500" b="1">
                <a:solidFill>
                  <a:srgbClr val="F8CE67"/>
                </a:solidFill>
                <a:latin typeface="M PLUS 1p"/>
                <a:ea typeface="M PLUS 1p"/>
                <a:cs typeface="M PLUS 1p"/>
                <a:hlinkClick xmlns:r="http://schemas.openxmlformats.org/officeDocument/2006/relationships" r:id="R90e4ba55eefc4006"/>
              </a:rPr>
              <a:t>https://note.com/gumigumih/membership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4D4C5-83F5-49BC-9E50-4749C91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3105150"/>
            <a:ext cx="2400300" cy="3333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8CE67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7e224e12249ac"/>
          <a:stretch xmlns:a="http://schemas.openxmlformats.org/drawingml/2006/main"/>
        </p:blipFill>
        <p:spPr>
          <a:xfrm xmlns:a="http://schemas.openxmlformats.org/drawingml/2006/main">
            <a:off x="8724900" y="3314700"/>
            <a:ext cx="1981200" cy="1981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09414-1518-4D82-A061-ECA06A52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54673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27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メンバーシップ</a:t>
            </a:r>
          </a:p>
          <a:p xmlns:a="http://schemas.openxmlformats.org/drawingml/2006/main">
            <a:pPr>
              <a:defRPr sz="127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27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はこちら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5FC1B-3FD4-448F-BCB5-091AC552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59817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QRを読み取るか、</a:t>
            </a:r>
          </a:p>
          <a:p xmlns:a="http://schemas.openxmlformats.org/drawingml/2006/main">
            <a:pPr>
              <a:defRPr sz="120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URLからご覧ください</a:t>
            </a:r>
          </a:p>
        </p:txBody>
      </p:sp>
    </p:spTree>
    <p:extLst>
      <p:ext uri="{BB962C8B-B14F-4D97-AF65-F5344CB8AC3E}">
        <p14:creationId xmlns:p14="http://schemas.microsoft.com/office/powerpoint/2010/main" val="928226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2026-09-26T23:43:26.4520000Z</dcterms:created>
  <dcterms:modified xsi:type="dcterms:W3CDTF">2026-09-26T23:43:26.4520000Z</dcterms:modified>
</coreProperties>
</file>