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5b0874e33a46a3" /><Relationship Type="http://schemas.openxmlformats.org/officeDocument/2006/relationships/extended-properties" Target="/docProps/app.xml" Id="Re11b8f2c23444280" /><Relationship Type="http://schemas.openxmlformats.org/officeDocument/2006/relationships/officeDocument" Target="/ppt/presentation.xml" Id="R9155f0334e7b47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7d6da7e734e66"/>
  </p:sldMasterIdLst>
  <p:notesMasterIdLst>
    <p:notesMasterId xmlns:r="http://schemas.openxmlformats.org/officeDocument/2006/relationships" r:id="R548c8606d8dc4fc5"/>
  </p:notesMasterIdLst>
  <p:sldIdLst>
    <p:sldId xmlns:r="http://schemas.openxmlformats.org/officeDocument/2006/relationships" id="256" r:id="R3fff5ef219d34ba3"/>
    <p:sldId xmlns:r="http://schemas.openxmlformats.org/officeDocument/2006/relationships" id="257" r:id="R60f0a39fa0c0475f"/>
    <p:sldId xmlns:r="http://schemas.openxmlformats.org/officeDocument/2006/relationships" id="258" r:id="Re83ba945d4bd4b88"/>
    <p:sldId xmlns:r="http://schemas.openxmlformats.org/officeDocument/2006/relationships" id="259" r:id="Reb52395daa8c46ff"/>
    <p:sldId xmlns:r="http://schemas.openxmlformats.org/officeDocument/2006/relationships" id="260" r:id="R6c512d7d454a4cd9"/>
    <p:sldId xmlns:r="http://schemas.openxmlformats.org/officeDocument/2006/relationships" id="261" r:id="R763d4d796be94128"/>
    <p:sldId xmlns:r="http://schemas.openxmlformats.org/officeDocument/2006/relationships" id="262" r:id="R9237a5b2c5864491"/>
    <p:sldId xmlns:r="http://schemas.openxmlformats.org/officeDocument/2006/relationships" id="263" r:id="Rc5d704a59e3b4846"/>
    <p:sldId xmlns:r="http://schemas.openxmlformats.org/officeDocument/2006/relationships" id="264" r:id="R6cdf1566b9e74f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22cd446b3045d0" /><Relationship Type="http://schemas.openxmlformats.org/officeDocument/2006/relationships/slideMaster" Target="/ppt/slideMasters/slideMaster1.xml" Id="Ra847d6da7e734e66" /><Relationship Type="http://schemas.openxmlformats.org/officeDocument/2006/relationships/notesMaster" Target="/ppt/notesMasters/notesMaster1.xml" Id="R548c8606d8dc4fc5" /><Relationship Type="http://schemas.openxmlformats.org/officeDocument/2006/relationships/presProps" Target="/ppt/presProps.xml" Id="R20783db234454b9f" /><Relationship Type="http://schemas.openxmlformats.org/officeDocument/2006/relationships/tableStyles" Target="/ppt/tableStyles.xml" Id="R4e66f213992743ef" /><Relationship Type="http://schemas.openxmlformats.org/officeDocument/2006/relationships/slide" Target="/ppt/slides/slide1.xml" Id="R3fff5ef219d34ba3" /><Relationship Type="http://schemas.openxmlformats.org/officeDocument/2006/relationships/slide" Target="/ppt/slides/slide2.xml" Id="R60f0a39fa0c0475f" /><Relationship Type="http://schemas.openxmlformats.org/officeDocument/2006/relationships/slide" Target="/ppt/slides/slide3.xml" Id="Re83ba945d4bd4b88" /><Relationship Type="http://schemas.openxmlformats.org/officeDocument/2006/relationships/slide" Target="/ppt/slides/slide4.xml" Id="Reb52395daa8c46ff" /><Relationship Type="http://schemas.openxmlformats.org/officeDocument/2006/relationships/slide" Target="/ppt/slides/slide5.xml" Id="R6c512d7d454a4cd9" /><Relationship Type="http://schemas.openxmlformats.org/officeDocument/2006/relationships/slide" Target="/ppt/slides/slide6.xml" Id="R763d4d796be94128" /><Relationship Type="http://schemas.openxmlformats.org/officeDocument/2006/relationships/slide" Target="/ppt/slides/slide7.xml" Id="R9237a5b2c5864491" /><Relationship Type="http://schemas.openxmlformats.org/officeDocument/2006/relationships/slide" Target="/ppt/slides/slide8.xml" Id="Rc5d704a59e3b4846" /><Relationship Type="http://schemas.openxmlformats.org/officeDocument/2006/relationships/slide" Target="/ppt/slides/slide9.xml" Id="R6cdf1566b9e74f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deacbf76c141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ed4ad98f984b67" /><Relationship Type="http://schemas.openxmlformats.org/officeDocument/2006/relationships/notesMaster" Target="/ppt/notesMasters/notesMaster1.xml" Id="R02b3ab0523534c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d8d6246e34410f" /><Relationship Type="http://schemas.openxmlformats.org/officeDocument/2006/relationships/notesMaster" Target="/ppt/notesMasters/notesMaster1.xml" Id="R9b68a6e1ce8949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0a115018e74302" /><Relationship Type="http://schemas.openxmlformats.org/officeDocument/2006/relationships/notesMaster" Target="/ppt/notesMasters/notesMaster1.xml" Id="R08276a38acef4f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dfed99a00547e9" /><Relationship Type="http://schemas.openxmlformats.org/officeDocument/2006/relationships/notesMaster" Target="/ppt/notesMasters/notesMaster1.xml" Id="R013169109e344c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b3f46cc4644d33" /><Relationship Type="http://schemas.openxmlformats.org/officeDocument/2006/relationships/notesMaster" Target="/ppt/notesMasters/notesMaster1.xml" Id="R73c6489b6d9f4b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61f6a25e00444f" /><Relationship Type="http://schemas.openxmlformats.org/officeDocument/2006/relationships/notesMaster" Target="/ppt/notesMasters/notesMaster1.xml" Id="R9af16312b12d40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fe6b1ec22247d9" /><Relationship Type="http://schemas.openxmlformats.org/officeDocument/2006/relationships/notesMaster" Target="/ppt/notesMasters/notesMaster1.xml" Id="Rf9baa1cd1e9c43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7bc5b000114319" /><Relationship Type="http://schemas.openxmlformats.org/officeDocument/2006/relationships/notesMaster" Target="/ppt/notesMasters/notesMaster1.xml" Id="R8e823a6cdfa542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a94fd646b44724" /><Relationship Type="http://schemas.openxmlformats.org/officeDocument/2006/relationships/notesMaster" Target="/ppt/notesMasters/notesMaster1.xml" Id="R6bc421ecc8b74f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RyzaChat:AI公式サイト: https://ryzachat-ai.go-spiral.ai/</a:t>
            </a:r>
          </a:p>
          <a:p xmlns:a="http://schemas.openxmlformats.org/drawingml/2006/main">
            <a:r>
              <a:t>DMM公式発表: https://prtimes.jp/main/html/rd/p/000005121.000002581.html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既存ゲームのキャラクターと話せる、二つのサービス</a:t>
            </a:r>
          </a:p>
          <a:p xmlns:a="http://schemas.openxmlformats.org/drawingml/2006/main">
            <a:r>
              <a:t>RyzaChat:AI公式サイト: https://ryzachat-ai.go-spiral.ai/</a:t>
            </a:r>
          </a:p>
          <a:p xmlns:a="http://schemas.openxmlformats.org/drawingml/2006/main">
            <a:r>
              <a:t>DMM公式発表: https://prtimes.jp/main/html/rd/p/000005121.000002581.html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DMMは物語への参加、ライザは冒険の操作にも会話を使う</a:t>
            </a:r>
          </a:p>
          <a:p xmlns:a="http://schemas.openxmlformats.org/drawingml/2006/main">
            <a:r>
              <a:t>RyzaChat:AI公式サイト: https://ryzachat-ai.go-spiral.ai/</a:t>
            </a:r>
          </a:p>
          <a:p xmlns:a="http://schemas.openxmlformats.org/drawingml/2006/main">
            <a:r>
              <a:t>DMM公式発表: https://prtimes.jp/main/html/rd/p/000005121.000002581.html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探索や収集は、物語の続き以外の再訪理由になり得る</a:t>
            </a:r>
          </a:p>
          <a:p xmlns:a="http://schemas.openxmlformats.org/drawingml/2006/main">
            <a:r>
              <a:t>RyzaChat:AI公式サイト: https://ryzachat-ai.go-spiral.ai/</a:t>
            </a:r>
          </a:p>
          <a:p xmlns:a="http://schemas.openxmlformats.org/drawingml/2006/main">
            <a:r>
              <a:t>DMM公式発表: https://prtimes.jp/main/html/rd/p/000005121.000002581.html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冒険を続けてもらうには、持ち物と会話の整合が要る</a:t>
            </a:r>
          </a:p>
          <a:p xmlns:a="http://schemas.openxmlformats.org/drawingml/2006/main">
            <a:r>
              <a:t>RyzaChat:AI公式サイト: https://ryzachat-ai.go-spiral.ai/</a:t>
            </a:r>
          </a:p>
          <a:p xmlns:a="http://schemas.openxmlformats.org/drawingml/2006/main">
            <a:r>
              <a:t>DMM公式発表: https://prtimes.jp/main/html/rd/p/000005121.000002581.html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ゲーム要素を加えると、監修・修正の対象も増える</a:t>
            </a:r>
          </a:p>
          <a:p xmlns:a="http://schemas.openxmlformats.org/drawingml/2006/main">
            <a:r>
              <a:t>Hasbro公式発表: https://investor.hasbro.com/news-releases/news-release-details/hasbro-launches-sixth-wall-new-ai-studio-building-next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採算には、会話の生成だけでなく監修・更新の費用も関わる</a:t>
            </a:r>
          </a:p>
          <a:p xmlns:a="http://schemas.openxmlformats.org/drawingml/2006/main">
            <a:r>
              <a:t>App Storeのアプリ内購入一覧: https://apps.apple.com/jp/app/ryzachat-ai/id6763540981</a:t>
            </a:r>
          </a:p>
          <a:p xmlns:a="http://schemas.openxmlformats.org/drawingml/2006/main">
            <a:r>
              <a:t>DMMの料金案内: https://support.dmm.com/chara-talk/article/49604</a:t>
            </a:r>
          </a:p>
          <a:p xmlns:a="http://schemas.openxmlformats.org/drawingml/2006/main">
            <a:r>
              <a:t>PinxAIの料金表（第22条）: https://all.pinxai.com/legal/service/ja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遊びの幅を広げるなら、その続きを守る運営も必要になる</a:t>
            </a:r>
          </a:p>
          <a:p xmlns:a="http://schemas.openxmlformats.org/drawingml/2006/main">
            <a:r>
              <a:t>RyzaChat:AI公式サイト: https://ryzachat-ai.go-spiral.ai/</a:t>
            </a:r>
          </a:p>
          <a:p xmlns:a="http://schemas.openxmlformats.org/drawingml/2006/main">
            <a:r>
              <a:t>DMM公式発表: https://prtimes.jp/main/html/rd/p/000005121.000002581.html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メンバーシップ: https://note.com/gumigumih/membership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2ad676e0f41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7c0b6b7e904920" /><Relationship Type="http://schemas.openxmlformats.org/officeDocument/2006/relationships/slideLayout" Target="/ppt/slideLayouts/slideLayout1.xml" Id="R5eb9ffc8bc2442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b9ffc8bc2442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7015156a14161" /><Relationship Type="http://schemas.openxmlformats.org/officeDocument/2006/relationships/notesSlide" Target="/ppt/notesSlides/notesSlide1.xml" Id="Ra434f204e4ed4c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a1d13caba47f4" /><Relationship Type="http://schemas.openxmlformats.org/officeDocument/2006/relationships/notesSlide" Target="/ppt/notesSlides/notesSlide2.xml" Id="Raf8fe6a69cb24e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f7c0bf904430d" /><Relationship Type="http://schemas.openxmlformats.org/officeDocument/2006/relationships/notesSlide" Target="/ppt/notesSlides/notesSlide3.xml" Id="R7c15e51f289646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39d81584847a2" /><Relationship Type="http://schemas.openxmlformats.org/officeDocument/2006/relationships/notesSlide" Target="/ppt/notesSlides/notesSlide4.xml" Id="Rc9fa97afe8a84f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38b82151240ab" /><Relationship Type="http://schemas.openxmlformats.org/officeDocument/2006/relationships/notesSlide" Target="/ppt/notesSlides/notesSlide5.xml" Id="R5d8e9b5631cd47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fc0016fc04b66" /><Relationship Type="http://schemas.openxmlformats.org/officeDocument/2006/relationships/notesSlide" Target="/ppt/notesSlides/notesSlide6.xml" Id="Rac6456106f0b49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d60ee20844d80" /><Relationship Type="http://schemas.openxmlformats.org/officeDocument/2006/relationships/notesSlide" Target="/ppt/notesSlides/notesSlide7.xml" Id="Rd0e598a051ed47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65d5d0f6147fd" /><Relationship Type="http://schemas.openxmlformats.org/officeDocument/2006/relationships/notesSlide" Target="/ppt/notesSlides/notesSlide8.xml" Id="R653adf8cb7034b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104477c2d4b16" /><Relationship Type="http://schemas.openxmlformats.org/officeDocument/2006/relationships/image" Target="/ppt/media/image.png" Id="Rcefc5690f1014802" /><Relationship Type="http://schemas.openxmlformats.org/officeDocument/2006/relationships/image" Target="/ppt/media/image2.png" Id="Reaae86694b0d4df3" /><Relationship Type="http://schemas.openxmlformats.org/officeDocument/2006/relationships/notesSlide" Target="/ppt/notesSlides/notesSlide9.xml" Id="R7aa702bf04e040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677DF-B50C-486D-90B6-B9023BA3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1725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AIとわたしの深夜エンタメ会議 #06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FFE9E-6D12-4125-9663-7CE4CEAC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480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AIチャット×既存IPの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480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体験設計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AF8D4-5DE6-4B36-B01E-50A1F0DD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2250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キャラクターと物語を進めるDMMキャラトークと、</a:t>
            </a:r>
          </a:p>
          <a:p xmlns:a="http://schemas.openxmlformats.org/drawingml/2006/main">
            <a:pPr>
              <a:defRPr sz="2250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2250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会話で冒険するRyzaChat:AIの比較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2CD78-4651-4341-B327-8862D910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遊び続ける理由と、それを支える運営を考える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FE0C5-56A7-485A-80F7-F0D37179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1575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2026年9月15日  /  ぐみ</a:t>
            </a:r>
          </a:p>
        </p:txBody>
      </p:sp>
    </p:spTree>
    <p:extLst>
      <p:ext uri="{BB962C8B-B14F-4D97-AF65-F5344CB8AC3E}">
        <p14:creationId xmlns:p14="http://schemas.microsoft.com/office/powerpoint/2010/main" val="1531250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82948-64EC-4C8E-9F10-52F34519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AIチャット×既存IP   2 /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C0D5A-BABA-4F61-93CD-198AB717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既存ゲームのキャラクターと話せる、二つのサービス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0FD6B-3C07-48C6-B2E5-71FBC9BE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公式情報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D3DA8-D09E-4B95-BD9D-3CE93262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既存IPとは、すでにある作品やキャラクターのこと。ここでは、ゲーム作品を使ったAIチャットを比べます。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E3632-80AD-4D3C-B1C0-22C3FA3D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2250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DMMキャラトークの彩京作品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67CD3-3264-4E4D-A556-C12DF080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『ガンバード』『戦国ブレード』の</a:t>
            </a:r>
          </a:p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キャラクターと会話し、物語に参加する</a:t>
            </a:r>
          </a:p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ストーリーチャット。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C422B-0BAA-4D81-89A3-A9548526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95600"/>
            <a:ext cx="4972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225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RyzaChat:AI（ライザ）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0A30F-C7F3-4018-BB3B-1957E52D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4972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『ライザのアトリエ』の世界を、</a:t>
            </a:r>
          </a:p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会話で冒険するゲームです。</a:t>
            </a:r>
          </a:p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探索・採集・調合・戦闘を進め、</a:t>
            </a:r>
          </a:p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持ち物や通貨も管理します。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C1B98-1892-4241-8682-4B0B804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共通点は「好きなキャラと話せること」。違いは、会話を通じて何を遊べるか。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3EF6D-882F-4287-AE3D-890AAC59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65253-6425-4C6F-9E34-29355819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出典：DMM公式発表、RyzaChat:AI公式サイト。比較対象はDMM全体ではなく、今回紹介された彩京作品です。</a:t>
            </a:r>
          </a:p>
        </p:txBody>
      </p:sp>
    </p:spTree>
    <p:extLst>
      <p:ext uri="{BB962C8B-B14F-4D97-AF65-F5344CB8AC3E}">
        <p14:creationId xmlns:p14="http://schemas.microsoft.com/office/powerpoint/2010/main" val="1754848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337ED2-4E57-4B24-A398-4D020412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AIチャット×既存IP   3 /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2008A-36E4-4836-B848-D6AF083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DMMは物語への参加、ライザは冒険の操作にも会話を使う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71610-8679-4AF0-A4EA-4BCA95FD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機能と模式例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32294-B2F0-4A49-B95E-9A2D0EB9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下図は公表機能をもとにした遊び方の模式例です。実際の操作手順や会話ログではありません。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D088A-F5F0-4087-A130-872DAE85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2100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DMMの彩京作品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A6301-FB7B-4CF6-82D3-B8A130EB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8C654-ADAB-4198-B331-03BF0C96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87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キャラと話す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E4B69-6213-4D37-9063-47F76396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8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4AF0E-84F4-4284-BA84-B6648731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CD034-C593-4778-833D-ABA71572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1362C-B40E-4A39-9E8A-7E4D2644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87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返答を受け取る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A819D-E375-4B43-BE26-7CE06947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A6C53-810F-4AAB-9CD7-0A0FDCF8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622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910F0-1099-415B-A0E2-C37A1F2D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E48AF-DACB-4A55-B99A-B301A91F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87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物語を進める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C6428-34C1-403D-A39B-A7CDEBEE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210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ライザ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BE5D9-D69D-4058-AFA0-51887311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433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9FD31-6231-46FF-9A40-E09BE8D0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875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素材を採集する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94F4A-F96F-4DA5-A2D7-75ACCE2B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62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09F3E-4754-4D96-B5FA-151A39DF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95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97BE4-23CD-4C5E-B014-2DEB75F0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9C6BB-2B04-4273-BE7A-085AAD15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875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持ち物に残す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8352B-3FBF-44A4-80EB-C0C54844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624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8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6AF64-47EE-4891-A92D-6AA7603A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95775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58CC5-20AC-4C27-962C-558C8EE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433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828085-B1E6-4362-9789-B18DE12E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148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875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調合などに使う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AA2BF-469C-40CD-8A67-4B328205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ライザでは話の続きに加え、手に入れた物を使って遊びを進める楽しみがある。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8B1F7-2BC6-4BAE-A59A-2D50E910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A8D8B-94C3-4507-8830-C292E298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出典：両サービスの公式情報。DMMの今回の発表には、ライザのような持ち物管理や戦闘の説明はありません。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431038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2BE42-A6C8-41E7-BAAD-1F630815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AIチャット×既存IP   4 /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B9E5C-A801-4E40-BF0D-416C39D7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探索や収集は、物語の続き以外の再訪理由になり得る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7EB7C-B43A-4E7C-AE55-52C71B92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分析・仮説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B982D-A820-4DDA-964E-18743061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950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一度話して満足した人にも、未完了の目標が残れば、また開くきっかけになると考えられます。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810000"/>
              </a:tblGrid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用意された楽しみ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利用者に残る気持ちの例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再訪したときの行動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物語・会話</a:t>
                      </a:r>
                    </a:p>
                    <a:p>
                      <a:r>
                        <a:rPr sz="1800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両サービスに共通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キャラクターの返答や</a:t>
                      </a:r>
                    </a:p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物語の続きを知りたい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会話や物語を続ける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探索・収集・達成</a:t>
                      </a:r>
                    </a:p>
                    <a:p>
                      <a:r>
                        <a:rPr sz="1800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ライザに加わる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足りない素材を集めたい</a:t>
                      </a:r>
                    </a:p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次の場所へ行きたい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採集や探索を再開する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97F31-70BE-4C97-8D7C-7D5B8103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95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物語を知りたい気持ちに、自分で進めたい目標も加わる。再訪のきっかけが広がり得る。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C7C61-1371-43D1-AE71-F8D7CA6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FDFF0-05B5-46F5-A3A4-1911540F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遊び方に基づく仮説です。継続率の向上を実証した結果ではありません。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528428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44E24-47DF-4633-A752-2D56FDD3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AIチャット×既存IP   5 /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A7821-404C-4035-AD4E-4E76526C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冒険を続けてもらうには、持ち物と会話の整合が要る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9E236-9894-43F6-AA04-6E4821DA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分析・架空の例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1249B-6CA7-4886-AB42-FC9A0B62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例えば、素材を集めた後に「その素材で調合したい」と入力する場面を考えます。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F24B9-5CB9-4371-87B3-294A4062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46E0A-50CB-4C36-810A-DB7B5B76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270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87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採集で素材を入手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D5F74-33E1-4A87-8842-D5C536EF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4802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8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49622-2B71-4F11-8781-E8930844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C647A-CA9B-48DB-B4A5-4068E23B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28925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63900-134F-48AB-A418-12D2A77C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1875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持ち物に素材がある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2C797-91E7-4763-9999-8FAC2824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48025"/>
            <a:ext cx="62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18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63E22-0A40-4E83-B27C-262EE3D9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11430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6718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2468A-0F27-4C69-9AAC-A27ECD7B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28925"/>
            <a:ext cx="3009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1779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6592C-B98C-442C-A143-6A9CDD90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0375"/>
            <a:ext cx="274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875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その素材で調合したい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70E88-DF91-4AEB-8883-D1925458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91"/>
                </a:solidFill>
                <a:latin typeface="M PLUS 1p"/>
                <a:ea typeface="M PLUS 1p"/>
                <a:cs typeface="M PLUS 1p"/>
              </a:defRPr>
            </a:pPr>
            <a:r>
              <a:rPr sz="2100" b="1">
                <a:solidFill>
                  <a:srgbClr val="007B91"/>
                </a:solidFill>
                <a:latin typeface="M PLUS 1p"/>
                <a:ea typeface="M PLUS 1p"/>
                <a:cs typeface="M PLUS 1p"/>
              </a:rPr>
              <a:t>会話と持ち物が合っていれば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C2C76-DA80-4FBD-9B54-F113F68E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集めた成果を使って、次の遊びへ進める。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71656-9FF8-47AC-9AA6-C95E2407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210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会話が「素材はない」と扱うと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EBD3E-14AC-456E-A259-81D5692A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958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それまでの行動が無駄に感じられ、</a:t>
            </a:r>
          </a:p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続きを遊ぶ気持ちを損ねかねない。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A6708-055F-476E-A56B-EFE2677C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59926-7AB1-43ED-A8F3-D82278EA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実際の不具合報告ではなく説明用の架空例。運営には、口調や物語に加え、持ち物・進行と返答の確認が必要になります。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2716525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02C61-36C4-4FE9-BAC0-35580B1C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AIチャット×既存IP   6 /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F3536-ADE4-4CB9-A822-352591DB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ゲーム要素を加えると、監修・修正の対象も増える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F6C19-4051-48CD-90C3-A0868D80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運営上の分析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028825"/>
          <a:ext xmlns:a="http://schemas.openxmlformats.org/drawingml/2006/main" cx="108204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71950"/>
                <a:gridCol w="4171950"/>
              </a:tblGrid>
              <a:tr h="793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確認する範囲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物語・会話を中心にする場合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ゲーム要素も組み込む場合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</a:tr>
              <a:tr h="793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両方に必要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原作らしい口調・設定</a:t>
                      </a:r>
                    </a:p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物語のつながり、年齢への配慮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左と同じ確認が必要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</a:tr>
              <a:tr h="793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運営が担うこと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問題のある返答を</a:t>
                      </a:r>
                    </a:p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止めて直す体制を用意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左に加え、持ち物・進行と返答の</a:t>
                      </a:r>
                    </a:p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食い違いも確認・修正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15B4F-B239-4043-9E71-C0BDFEF6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参考：Hasbroの「Behavioral Licensing」は、</a:t>
            </a:r>
          </a:p>
          <a:p xmlns:a="http://schemas.openxmlformats.org/drawingml/2006/main">
            <a:pPr>
              <a:def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キャラクターの人格・設定・声と、安全のための制限まで管理対象に含めます。</a:t>
            </a:r>
          </a:p>
          <a:p xmlns:a="http://schemas.openxmlformats.org/drawingml/2006/main">
            <a:pPr>
              <a:def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87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会話を公開した後も、原作らしい振る舞いを保つことが運営の課題になります。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A8682-C2A6-4BE4-A9F2-F2C294EA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84478-E568-4E2F-A1AE-85555EF5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出典：Hasbro公式。表は本文から整理した運営上の論点で、DMMやライザの実際の社内体制を示すものではありません。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7721622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4D134-705E-4401-B360-0799405D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AIチャット×既存IP   7 /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AB2E3-8061-4E36-BF4D-504F2EE6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採算には、会話の生成だけでなく監修・更新の費用も関わる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73C46-75F4-4F1E-AC91-D48987E0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公表料金と分析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2028825"/>
          <a:ext xmlns:a="http://schemas.openxmlformats.org/drawingml/2006/main" cx="10820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124325"/>
                <a:gridCol w="4124325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公表料金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RyzaChat:AI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DMMの彩京作品（PinxAI提供）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支払いの仕組み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月額980円 / 年額6,000円</a:t>
                      </a:r>
                    </a:p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年額は割引表記、会話トークン別売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ストーリーチャットの料金表は</a:t>
                      </a:r>
                    </a:p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10〜50ポイント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E2167-41BF-482B-8247-ACA4B9B4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遊び続けてもらう間は、会話を生成する費用に加え、</a:t>
            </a:r>
          </a:p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原作らしさやゲームの整合性を保つための監修・修正・更新も続きます。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47D13-2D62-4BCA-91D6-7BD30926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楽しみを増やす設計と、その体験を支え続けられる料金・運営を一緒に考える。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36D48-73A6-44D5-98D7-B49FC362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C771C-AB53-4FAE-A146-B9925F3E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2026/9/15時点。年額割引の適用条件・商品ごとの会話量は未確認のため、総額の安さは比較していません。</a:t>
            </a:r>
          </a:p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出典：日本向けApp Store、DMM料金案内、PinxAI規約第22条（PINX-CHAT-STORY）。</a:t>
            </a:r>
          </a:p>
        </p:txBody>
      </p:sp>
    </p:spTree>
    <p:extLst>
      <p:ext uri="{BB962C8B-B14F-4D97-AF65-F5344CB8AC3E}">
        <p14:creationId xmlns:p14="http://schemas.microsoft.com/office/powerpoint/2010/main" val="1648387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FFC88-7E4A-40B9-AB5B-71C2F697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AIチャット×既存IP   8 /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6EFA4-2029-4C4A-95BB-0B8DB35D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850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遊びの幅を広げるなら、その続きを守る運営も必要になる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BB34C-4435-4627-AD7C-77BB765C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35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結論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2FD32-9B65-481A-83DE-11B85053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2025" b="0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DMMの彩京作品とライザの違いは、キャラと話した後に何を楽しめるかにあります。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447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010025"/>
                <a:gridCol w="4095750"/>
              </a:tblGrid>
              <a:tr h="6119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比較から見えること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DMMの彩京作品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 PLUS 1p"/>
                          <a:ea typeface="M PLUS 1p"/>
                          <a:cs typeface="M PLUS 1p"/>
                        </a:rPr>
                        <a:t>ライザ</a:t>
                      </a:r>
                    </a:p>
                  </a:txBody>
                  <a:tcPr marL="91440" marR="91440" marT="45720" marB="45720">
                    <a:solidFill>
                      <a:srgbClr val="071337"/>
                    </a:solidFill>
                  </a:tcPr>
                </a:tc>
              </a:tr>
              <a:tr h="6119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用意された体験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会話を通じて物語に参加する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物語に加え、探索・収集・調合を遊ぶ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</a:tr>
              <a:tr h="6119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再訪の理由（仮説）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物語やキャラの返答が気になる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冒険で達成したい目標も残る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</a:tr>
              <a:tr h="6119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体験を守る条件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原作らしさと物語のつながり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0C1B45"/>
                          </a:solidFill>
                          <a:latin typeface="M PLUS 1p"/>
                          <a:ea typeface="M PLUS 1p"/>
                          <a:cs typeface="M PLUS 1p"/>
                        </a:rPr>
                        <a:t>左に加え、持ち物・進行との整合</a:t>
                      </a:r>
                    </a:p>
                  </a:txBody>
                  <a:tcPr marL="91440" marR="91440" marT="45720" marB="45720">
                    <a:solidFill>
                      <a:srgbClr val="F8F7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E6511-D937-4672-BDAD-6D9767DE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1779E"/>
                </a:solidFill>
                <a:latin typeface="M PLUS 1p"/>
                <a:ea typeface="M PLUS 1p"/>
                <a:cs typeface="M PLUS 1p"/>
              </a:defRPr>
            </a:pPr>
            <a:r>
              <a:rPr sz="1950" b="1">
                <a:solidFill>
                  <a:srgbClr val="F1779E"/>
                </a:solidFill>
                <a:latin typeface="M PLUS 1p"/>
                <a:ea typeface="M PLUS 1p"/>
                <a:cs typeface="M PLUS 1p"/>
              </a:rPr>
              <a:t>ゲーム要素には再訪理由を増やす可能性がある一方、会話とゲームをつなぐ運営が要る。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900D2-5D98-4A8E-BBFC-E2E98FF0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7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0672F-2EF3-48E8-AB7B-D52293EE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35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体験設計の違いを整理した比較です。継続率や収益性の優劣を示すものではありません。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5582832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c5690f1014802"/>
          <a:srcRect xmlns:a="http://schemas.openxmlformats.org/drawingml/2006/main" l="3403" t="0" r="34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4116A-B340-4D89-BB16-16349075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C4655-656A-43C1-986F-0C18557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195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AIとわたしの深夜エンタメ会議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310F6-6822-41C1-A011-D1152758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19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360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読んでくださって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 PLUS 1p"/>
                <a:ea typeface="M PLUS 1p"/>
                <a:cs typeface="M PLUS 1p"/>
              </a:defRPr>
            </a:pPr>
            <a:r>
              <a:rPr sz="3600" b="1">
                <a:solidFill>
                  <a:srgbClr val="FFFFFF"/>
                </a:solidFill>
                <a:latin typeface="M PLUS 1p"/>
                <a:ea typeface="M PLUS 1p"/>
                <a:cs typeface="M PLUS 1p"/>
              </a:rPr>
              <a:t>ありがとうございました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A0CD9-7EDA-4E1A-BD3C-0DE8B636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8CE67"/>
                </a:solidFill>
                <a:latin typeface="M PLUS 1p"/>
                <a:ea typeface="M PLUS 1p"/>
                <a:cs typeface="M PLUS 1p"/>
              </a:defRPr>
            </a:pPr>
            <a:r>
              <a:rPr sz="2025" b="1">
                <a:solidFill>
                  <a:srgbClr val="F8CE67"/>
                </a:solidFill>
                <a:latin typeface="M PLUS 1p"/>
                <a:ea typeface="M PLUS 1p"/>
                <a:cs typeface="M PLUS 1p"/>
              </a:rPr>
              <a:t>ぐみ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7CFAD-EA51-4D7F-8D38-9E002261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953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メンバーシップで、毎回の深掘りと</a:t>
            </a:r>
          </a:p>
          <a:p xmlns:a="http://schemas.openxmlformats.org/drawingml/2006/main">
            <a:pPr>
              <a:defRPr sz="1800" b="0">
                <a:solidFill>
                  <a:srgbClr val="D7EEFF"/>
                </a:solidFill>
                <a:latin typeface="M PLUS 1p"/>
                <a:ea typeface="M PLUS 1p"/>
                <a:cs typeface="M PLUS 1p"/>
              </a:defRPr>
            </a:pPr>
            <a:r>
              <a:rPr sz="1800" b="0">
                <a:solidFill>
                  <a:srgbClr val="D7EEFF"/>
                </a:solidFill>
                <a:latin typeface="M PLUS 1p"/>
                <a:ea typeface="M PLUS 1p"/>
                <a:cs typeface="M PLUS 1p"/>
              </a:rPr>
              <a:t>会社ですぐ使える分析スライドをお届けします。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C25CC-A93D-44DE-A568-08AA41CE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CE67"/>
                </a:solidFill>
                <a:latin typeface="M PLUS 1p"/>
                <a:ea typeface="M PLUS 1p"/>
                <a:cs typeface="M PLUS 1p"/>
              </a:defRPr>
            </a:pPr>
            <a:r>
              <a:rPr sz="1500" b="1">
                <a:solidFill>
                  <a:srgbClr val="F8CE67"/>
                </a:solidFill>
                <a:latin typeface="M PLUS 1p"/>
                <a:ea typeface="M PLUS 1p"/>
                <a:cs typeface="M PLUS 1p"/>
              </a:rPr>
              <a:t>https://note.com/gumigumih/membership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3F9F9-2C14-4B96-A76B-3964EEED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2400300" cy="3333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F8CE67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e86694b0d4df3"/>
          <a:stretch xmlns:a="http://schemas.openxmlformats.org/drawingml/2006/main"/>
        </p:blipFill>
        <p:spPr>
          <a:xfrm xmlns:a="http://schemas.openxmlformats.org/drawingml/2006/main">
            <a:off x="8839200" y="2247900"/>
            <a:ext cx="1981200" cy="1981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65A26-E257-4EE6-8378-87BB4D2A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005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27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メンバーシップ</a:t>
            </a:r>
          </a:p>
          <a:p xmlns:a="http://schemas.openxmlformats.org/drawingml/2006/main">
            <a:pPr>
              <a:defRPr sz="1275" b="1">
                <a:solidFill>
                  <a:srgbClr val="0C1B45"/>
                </a:solidFill>
                <a:latin typeface="M PLUS 1p"/>
                <a:ea typeface="M PLUS 1p"/>
                <a:cs typeface="M PLUS 1p"/>
              </a:defRPr>
            </a:pPr>
            <a:r>
              <a:rPr sz="1275" b="1">
                <a:solidFill>
                  <a:srgbClr val="0C1B45"/>
                </a:solidFill>
                <a:latin typeface="M PLUS 1p"/>
                <a:ea typeface="M PLUS 1p"/>
                <a:cs typeface="M PLUS 1p"/>
              </a:rPr>
              <a:t>はこちら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98FDC-F3B8-471B-96AD-77EFDAAE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QRを読み取るか、</a:t>
            </a:r>
          </a:p>
          <a:p xmlns:a="http://schemas.openxmlformats.org/drawingml/2006/main">
            <a:pPr>
              <a:defRPr sz="1200" b="0">
                <a:solidFill>
                  <a:srgbClr val="66718E"/>
                </a:solidFill>
                <a:latin typeface="M PLUS 1p"/>
                <a:ea typeface="M PLUS 1p"/>
                <a:cs typeface="M PLUS 1p"/>
              </a:defRPr>
            </a:pPr>
            <a:r>
              <a:rPr sz="1200" b="0">
                <a:solidFill>
                  <a:srgbClr val="66718E"/>
                </a:solidFill>
                <a:latin typeface="M PLUS 1p"/>
                <a:ea typeface="M PLUS 1p"/>
                <a:cs typeface="M PLUS 1p"/>
              </a:rPr>
              <a:t>URLからご覧ください</a:t>
            </a:r>
          </a:p>
        </p:txBody>
      </p:sp>
    </p:spTree>
    <p:extLst>
      <p:ext uri="{BB962C8B-B14F-4D97-AF65-F5344CB8AC3E}">
        <p14:creationId xmlns:p14="http://schemas.microsoft.com/office/powerpoint/2010/main" val="940254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2026-09-15T16:14:49.9660000Z</dcterms:created>
  <dcterms:modified xsi:type="dcterms:W3CDTF">2026-09-15T16:14:49.9660000Z</dcterms:modified>
</coreProperties>
</file>